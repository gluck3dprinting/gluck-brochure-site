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 Cover — Scalable Mass Production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 Film — 2026 GLUCK 팩토리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 Scalable Mass Production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 Thesis — 제조 방식을 선택하는 시대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 GLUCK — 양산 제조 파트너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 History — 2013 → 2026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 Contents — 챕터 맵  · 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 Paths — 제품마다 다른 제조 경로  ·  Paths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 Risks — 금형 직행의 5가지 리스크  ·  Paths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 GLUCK Zone — 브릿지 생산 구간  ·  Paths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 Factory — 양산 대응 SLA 팩토리  ·  Factory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 Factory 01·02 — 두 개의 생산 라인  ·  Factory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 Dark Factory — 24시간 무인 양산  ·  Factory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 Smart Ops — 데이터로 관리되는 생산  ·  Factory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 Capability — 4가지 제조 역량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 Capability 01 — 정밀도와 표면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 Capability 01 — 정밀도 검증 리포트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 Capability 02 — DfAM 설계 일체화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 Capability 02 — DfAM 양산 진화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 Capability 03 — 유연 양산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 Capability 03 — 디지털 인벤토리 운영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 Capability 04 — 완제품화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 Capability 04 — 원스톱 후가공 파이프라인  ·  Capability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 Industry Map — 적용 산업 지도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 Industry 01 — 로봇 · 산업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 Industry 02 — 모빌리티 · 지그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 Industry 03 — 의료 · 전자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 Industry 04 — 브랜드 · 굿즈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 Industry 05 — 아트 · 문화재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 Industry Gallery — 그 외 양산 사례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 Industry Gallery — 예술 · 산업 양산  ·  Industries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  Value — 고객이 얻는 것  · 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  Decision — 언제 SLA 양산이 합리적인가  · 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 Process — 협업 6단계  · 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 Checklist — 상담 전 준비 항목  · 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 News — 언론이 확인한 제조 역량  ·  Trust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  Customers — 1만여 고객사와 함께  · 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  GLUCK — 함께 합니다  · 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  Links — 더 깊이 보기  ·  Contact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 Contact — 함께 검토합니다  ·  Contact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Relationship Id="rId4" Type="http://schemas.openxmlformats.org/officeDocument/2006/relationships/hyperlink" Target="https://www.youtube.com/watch?v=3WrEVLAeKb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slide" Target="slide15.xml"/><Relationship Id="rId7" Type="http://schemas.openxmlformats.org/officeDocument/2006/relationships/slide" Target="slide24.xml"/><Relationship Id="rId8" Type="http://schemas.openxmlformats.org/officeDocument/2006/relationships/slide" Target="slide32.xml"/><Relationship Id="rId9" Type="http://schemas.openxmlformats.org/officeDocument/2006/relationships/slide" Target="slide36.xml"/><Relationship Id="rId10" Type="http://schemas.openxmlformats.org/officeDocument/2006/relationships/slide" Target="slide37.xml"/><Relationship Id="rId11" Type="http://schemas.openxmlformats.org/officeDocument/2006/relationships/slide" Target="slide3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20.xml"/><Relationship Id="rId7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Relationship Id="rId4" Type="http://schemas.openxmlformats.org/officeDocument/2006/relationships/slide" Target="slide25.xml"/><Relationship Id="rId5" Type="http://schemas.openxmlformats.org/officeDocument/2006/relationships/slide" Target="slide26.xml"/><Relationship Id="rId6" Type="http://schemas.openxmlformats.org/officeDocument/2006/relationships/slide" Target="slide27.xml"/><Relationship Id="rId7" Type="http://schemas.openxmlformats.org/officeDocument/2006/relationships/slide" Target="slide28.xml"/><Relationship Id="rId8" Type="http://schemas.openxmlformats.org/officeDocument/2006/relationships/slide" Target="slide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Relationship Id="rId4" Type="http://schemas.openxmlformats.org/officeDocument/2006/relationships/hyperlink" Target="https://glucklab.com/news/news_01.html?lang=ko&amp;milestone=ten-thousand" TargetMode="External"/><Relationship Id="rId5" Type="http://schemas.openxmlformats.org/officeDocument/2006/relationships/hyperlink" Target="https://www.epnc.co.kr/news/articleView.html?idxno=401115" TargetMode="External"/><Relationship Id="rId6" Type="http://schemas.openxmlformats.org/officeDocument/2006/relationships/hyperlink" Target="https://www.mt.co.kr/future/2025/01/23/2025012310325667239" TargetMode="External"/><Relationship Id="rId7" Type="http://schemas.openxmlformats.org/officeDocument/2006/relationships/hyperlink" Target="https://www.m-economynews.com/news/article.html?no=61911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Relationship Id="rId4" Type="http://schemas.openxmlformats.org/officeDocument/2006/relationships/hyperlink" Target="https://glucklab.com/estimate/estimate_entry.html?lang=ko" TargetMode="External"/><Relationship Id="rId5" Type="http://schemas.openxmlformats.org/officeDocument/2006/relationships/hyperlink" Target="https://glucklab.com/?lang=ko" TargetMode="External"/><Relationship Id="rId6" Type="http://schemas.openxmlformats.org/officeDocument/2006/relationships/hyperlink" Target="https://www.youtube.com/watch?v=UawLLmX6fdc" TargetMode="External"/><Relationship Id="rId7" Type="http://schemas.openxmlformats.org/officeDocument/2006/relationships/hyperlink" Target="https://www.youtube.com/watch?v=3WrEVLAeKbU" TargetMode="External"/><Relationship Id="rId8" Type="http://schemas.openxmlformats.org/officeDocument/2006/relationships/hyperlink" Target="https://glucknews.tistory.com/" TargetMode="External"/><Relationship Id="rId9" Type="http://schemas.openxmlformats.org/officeDocument/2006/relationships/hyperlink" Target="https://www.instagram.com/gluck_3dprinting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914400" y="275355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6400800" y="275355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914400" y="329457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6400800" y="329457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914400" y="383559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action="ppaction://hlinksldjump" r:id="rId9"/>
          </p:cNvPr>
          <p:cNvSpPr/>
          <p:nvPr/>
        </p:nvSpPr>
        <p:spPr>
          <a:xfrm>
            <a:off x="6400800" y="383559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action="ppaction://hlinksldjump" r:id="rId10"/>
          </p:cNvPr>
          <p:cNvSpPr/>
          <p:nvPr/>
        </p:nvSpPr>
        <p:spPr>
          <a:xfrm>
            <a:off x="914400" y="437661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11"/>
          </p:cNvPr>
          <p:cNvSpPr/>
          <p:nvPr/>
        </p:nvSpPr>
        <p:spPr>
          <a:xfrm>
            <a:off x="6400800" y="4376618"/>
            <a:ext cx="4876800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6630114" y="2346960"/>
            <a:ext cx="4647366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6630114" y="2887980"/>
            <a:ext cx="4647366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6630114" y="3429000"/>
            <a:ext cx="4647366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6630114" y="3970020"/>
            <a:ext cx="4647366" cy="541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914400" y="3496627"/>
            <a:ext cx="1987272" cy="15559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3008352" y="3496627"/>
            <a:ext cx="1987272" cy="15559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5102304" y="3496627"/>
            <a:ext cx="1987272" cy="15559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7196256" y="3496627"/>
            <a:ext cx="1987272" cy="15559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9290208" y="3496627"/>
            <a:ext cx="1987272" cy="15559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914400" y="3172063"/>
            <a:ext cx="10363200" cy="590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5"/>
          </p:cNvPr>
          <p:cNvSpPr/>
          <p:nvPr/>
        </p:nvSpPr>
        <p:spPr>
          <a:xfrm>
            <a:off x="914400" y="3762613"/>
            <a:ext cx="10363200" cy="590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6"/>
          </p:cNvPr>
          <p:cNvSpPr/>
          <p:nvPr/>
        </p:nvSpPr>
        <p:spPr>
          <a:xfrm>
            <a:off x="914400" y="4353163"/>
            <a:ext cx="10363200" cy="590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7"/>
          </p:cNvPr>
          <p:cNvSpPr/>
          <p:nvPr/>
        </p:nvSpPr>
        <p:spPr>
          <a:xfrm>
            <a:off x="914400" y="4943713"/>
            <a:ext cx="10363200" cy="590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914400" y="1752004"/>
            <a:ext cx="5113020" cy="1840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5"/>
          </p:cNvPr>
          <p:cNvSpPr/>
          <p:nvPr/>
        </p:nvSpPr>
        <p:spPr>
          <a:xfrm>
            <a:off x="6164580" y="1752004"/>
            <a:ext cx="5113020" cy="1840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6"/>
          </p:cNvPr>
          <p:cNvSpPr/>
          <p:nvPr/>
        </p:nvSpPr>
        <p:spPr>
          <a:xfrm>
            <a:off x="914400" y="3729990"/>
            <a:ext cx="2487930" cy="1376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7"/>
          </p:cNvPr>
          <p:cNvSpPr/>
          <p:nvPr/>
        </p:nvSpPr>
        <p:spPr>
          <a:xfrm>
            <a:off x="3539490" y="3729990"/>
            <a:ext cx="2487930" cy="1376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8"/>
          </p:cNvPr>
          <p:cNvSpPr/>
          <p:nvPr/>
        </p:nvSpPr>
        <p:spPr>
          <a:xfrm>
            <a:off x="6164580" y="3729990"/>
            <a:ext cx="2487930" cy="1376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9"/>
          </p:cNvPr>
          <p:cNvSpPr/>
          <p:nvPr/>
        </p:nvSpPr>
        <p:spPr>
          <a:xfrm>
            <a:off x="8789670" y="3729990"/>
            <a:ext cx="2487930" cy="1376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GLUCK 소개서 — 산업용 SLA 3D프린팅 양산 제조 파트너</dc:title>
  <dc:subject/>
  <dc:creator>GLUCK Inc.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